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6" r:id="rId6"/>
    <p:sldId id="258" r:id="rId7"/>
    <p:sldId id="287" r:id="rId8"/>
    <p:sldId id="288" r:id="rId9"/>
    <p:sldId id="289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981" y="2359869"/>
            <a:ext cx="8175453" cy="1243584"/>
          </a:xfrm>
        </p:spPr>
        <p:txBody>
          <a:bodyPr/>
          <a:lstStyle/>
          <a:p>
            <a:pPr algn="ctr"/>
            <a:r>
              <a:rPr lang="en-US" sz="4400" dirty="0" smtClean="0"/>
              <a:t>SOCIAL MEDIA ENGAGEMENT ANALYSIS 2024-2025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IN" dirty="0"/>
              <a:t>Page 1 —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7510780" cy="4689690"/>
          </a:xfrm>
        </p:spPr>
        <p:txBody>
          <a:bodyPr/>
          <a:lstStyle/>
          <a:p>
            <a:r>
              <a:rPr lang="en-IN" b="1" u="sng" dirty="0"/>
              <a:t>KPIs: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Total Posts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Total Reach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err="1"/>
              <a:t>Avg</a:t>
            </a:r>
            <a:r>
              <a:rPr lang="en-IN" dirty="0"/>
              <a:t> Engagement Rate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r>
              <a:rPr lang="en-IN" b="1" u="sng" dirty="0"/>
              <a:t>Charts: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Engagement Rate Trend by Monthly </a:t>
            </a:r>
            <a:r>
              <a:rPr lang="en-IN" dirty="0" err="1"/>
              <a:t>Avg</a:t>
            </a:r>
            <a:r>
              <a:rPr lang="en-IN" dirty="0"/>
              <a:t>, 2024–2025 — Bar chart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Sum of Reach by Platform — Donut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err="1"/>
              <a:t>Avg</a:t>
            </a:r>
            <a:r>
              <a:rPr lang="en-IN" dirty="0"/>
              <a:t> Engagement Rate by Year and Month — Area/Line chart (Jan 2024 – Dec 2025 trend)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14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34365"/>
            <a:ext cx="11214100" cy="535531"/>
          </a:xfrm>
        </p:spPr>
        <p:txBody>
          <a:bodyPr/>
          <a:lstStyle/>
          <a:p>
            <a:r>
              <a:rPr lang="fr-FR" dirty="0"/>
              <a:t>Page 2 — Content &amp; Platform Performance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8819" y="1625385"/>
            <a:ext cx="6909889" cy="468969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KPIs: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Total Likes 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Total </a:t>
            </a:r>
            <a:r>
              <a:rPr lang="en-IN" dirty="0"/>
              <a:t>Comments 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Total </a:t>
            </a:r>
            <a:r>
              <a:rPr lang="en-IN" dirty="0"/>
              <a:t>Saves 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Total </a:t>
            </a:r>
            <a:r>
              <a:rPr lang="en-IN" dirty="0"/>
              <a:t>Shares </a:t>
            </a:r>
            <a:endParaRPr lang="en-IN" dirty="0" smtClean="0"/>
          </a:p>
          <a:p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Charts</a:t>
            </a:r>
            <a:r>
              <a:rPr lang="en-IN" b="1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Content Category Performance by </a:t>
            </a:r>
            <a:r>
              <a:rPr lang="en-IN" dirty="0" err="1"/>
              <a:t>Avg</a:t>
            </a:r>
            <a:r>
              <a:rPr lang="en-IN" dirty="0"/>
              <a:t> Engagement Rate — Horizontal Bar </a:t>
            </a:r>
            <a:endParaRPr lang="en-IN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Top </a:t>
            </a:r>
            <a:r>
              <a:rPr lang="en-IN" dirty="0"/>
              <a:t>10 Platform × Post Type, Ranked by Post Count — </a:t>
            </a:r>
            <a:r>
              <a:rPr lang="en-IN" dirty="0" err="1"/>
              <a:t>Treemap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Content Funnel: Impressions → Reach → Total Engagement → Saves — Funnel (100% → 0.3% drop-off)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 3 — Timing &amp; Geography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44499" y="1625384"/>
            <a:ext cx="7275649" cy="480154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KPIs:</a:t>
            </a:r>
            <a:endParaRPr lang="en-US" dirty="0"/>
          </a:p>
          <a:p>
            <a:r>
              <a:rPr lang="en-US" dirty="0"/>
              <a:t>Best Time Slot — Evening</a:t>
            </a:r>
          </a:p>
          <a:p>
            <a:r>
              <a:rPr lang="en-US" dirty="0"/>
              <a:t>Best Day — Wednesday</a:t>
            </a:r>
          </a:p>
          <a:p>
            <a:r>
              <a:rPr lang="en-US" dirty="0"/>
              <a:t>Best Performing Month — January</a:t>
            </a:r>
          </a:p>
          <a:p>
            <a:r>
              <a:rPr lang="en-US" dirty="0"/>
              <a:t>Best Performing Year — 2024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Charts:</a:t>
            </a:r>
            <a:endParaRPr lang="en-US" dirty="0"/>
          </a:p>
          <a:p>
            <a:r>
              <a:rPr lang="en-US" dirty="0"/>
              <a:t>Day of Week × Post Time (Afternoon/Evening/Morning/Night) — Matrix with row/column totals</a:t>
            </a:r>
          </a:p>
          <a:p>
            <a:r>
              <a:rPr lang="en-US" dirty="0"/>
              <a:t>Total Reach by Year — Bar </a:t>
            </a:r>
            <a:r>
              <a:rPr lang="en-US" dirty="0" smtClean="0"/>
              <a:t>chart</a:t>
            </a:r>
            <a:endParaRPr lang="en-US" dirty="0"/>
          </a:p>
          <a:p>
            <a:r>
              <a:rPr lang="en-US" dirty="0"/>
              <a:t>Total Users by Creator Gender — </a:t>
            </a:r>
            <a:r>
              <a:rPr lang="en-US" dirty="0" smtClean="0"/>
              <a:t>Donut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1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" y="1013188"/>
            <a:ext cx="11214100" cy="535531"/>
          </a:xfrm>
        </p:spPr>
        <p:txBody>
          <a:bodyPr/>
          <a:lstStyle/>
          <a:p>
            <a:r>
              <a:rPr lang="en-IN" dirty="0"/>
              <a:t>Page 4 — Audience Demographics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44500" y="2404394"/>
            <a:ext cx="7314837" cy="40932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Charts: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Creator Daily Time Spent by Creator Occupation — Horizontal Bar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Total </a:t>
            </a:r>
            <a:r>
              <a:rPr lang="en-US" dirty="0"/>
              <a:t>Users by Creator Age Group — Donut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Total </a:t>
            </a:r>
            <a:r>
              <a:rPr lang="en-US" dirty="0"/>
              <a:t>Engagement by User State — Shape Map (India states, color-coded by engagement intensity)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0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202" y="387533"/>
            <a:ext cx="5041900" cy="978729"/>
          </a:xfrm>
        </p:spPr>
        <p:txBody>
          <a:bodyPr/>
          <a:lstStyle/>
          <a:p>
            <a:r>
              <a:rPr lang="en-US" dirty="0" smtClean="0"/>
              <a:t>MEASURES USED FOR KPI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44500" y="1523712"/>
            <a:ext cx="5157787" cy="823912"/>
          </a:xfrm>
        </p:spPr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Content &amp; Platform Performance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4500" y="2331568"/>
            <a:ext cx="5290094" cy="3684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 smtClean="0"/>
              <a:t>Total_Posts</a:t>
            </a:r>
            <a:r>
              <a:rPr lang="en-US" dirty="0" smtClean="0"/>
              <a:t> </a:t>
            </a:r>
            <a:r>
              <a:rPr lang="en-US" dirty="0"/>
              <a:t>= DISTINCTCOUNT('Engagement System Data'[Post ID</a:t>
            </a:r>
            <a:r>
              <a:rPr lang="en-US" dirty="0" smtClean="0"/>
              <a:t>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Total_Reach</a:t>
            </a:r>
            <a:r>
              <a:rPr lang="en-US" dirty="0"/>
              <a:t> = SUM('Engagement System Data'[Reach</a:t>
            </a:r>
            <a:r>
              <a:rPr lang="en-US" dirty="0" smtClean="0"/>
              <a:t>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 err="1"/>
              <a:t>Avg_Engagement_Rate</a:t>
            </a:r>
            <a:r>
              <a:rPr lang="en-IN" dirty="0"/>
              <a:t> = AVERAGE('Engagement System Data'[Engagement Rate (%)])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IN" sz="20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Total </a:t>
            </a:r>
            <a:r>
              <a:rPr lang="en-US" dirty="0"/>
              <a:t>Likes = SUM('Final Dataset'[Likes</a:t>
            </a:r>
            <a:r>
              <a:rPr lang="en-US" dirty="0" smtClean="0"/>
              <a:t>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Total Comments = SUM('Final Dataset'[Comments</a:t>
            </a:r>
            <a:r>
              <a:rPr lang="en-US" dirty="0" smtClean="0"/>
              <a:t>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pt-BR" dirty="0" smtClean="0"/>
              <a:t>Total </a:t>
            </a:r>
            <a:r>
              <a:rPr lang="pt-BR" dirty="0"/>
              <a:t>Saves = SUM('Final Dataset'[Saves</a:t>
            </a:r>
            <a:r>
              <a:rPr lang="pt-BR" dirty="0" smtClean="0"/>
              <a:t>])</a:t>
            </a:r>
          </a:p>
          <a:p>
            <a:pPr>
              <a:buFont typeface="Wingdings" panose="05000000000000000000" pitchFamily="2" charset="2"/>
              <a:buChar char="v"/>
            </a:pPr>
            <a:endParaRPr lang="pt-BR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Total Shares = SUM('Final Dataset'[Shares])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444500" y="2505075"/>
            <a:ext cx="5157787" cy="36845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44500" y="1520022"/>
            <a:ext cx="5157787" cy="8276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500812" y="2505075"/>
            <a:ext cx="5059817" cy="36845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6500812" y="1520022"/>
            <a:ext cx="5157788" cy="9850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" y="621302"/>
            <a:ext cx="11214100" cy="535531"/>
          </a:xfrm>
        </p:spPr>
        <p:txBody>
          <a:bodyPr/>
          <a:lstStyle/>
          <a:p>
            <a:r>
              <a:rPr lang="en-IN" dirty="0"/>
              <a:t>TIMING &amp; </a:t>
            </a:r>
            <a:r>
              <a:rPr lang="en-IN" dirty="0" smtClean="0"/>
              <a:t>GEOGRAPHY KPIS MEASURE’s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241300" y="2001009"/>
            <a:ext cx="2495006" cy="3393951"/>
          </a:xfrm>
        </p:spPr>
        <p:txBody>
          <a:bodyPr/>
          <a:lstStyle/>
          <a:p>
            <a:r>
              <a:rPr lang="en-IN" b="1" dirty="0"/>
              <a:t>Best Time = </a:t>
            </a:r>
          </a:p>
          <a:p>
            <a:r>
              <a:rPr lang="en-IN" dirty="0"/>
              <a:t>VAR _t = ADDCOLUMNS(VALUES('Final Dataset'[Post Time]), "@</a:t>
            </a:r>
            <a:r>
              <a:rPr lang="en-IN" dirty="0" err="1"/>
              <a:t>AvgER</a:t>
            </a:r>
            <a:r>
              <a:rPr lang="en-IN" dirty="0"/>
              <a:t>", CALCULATE(AVERAGE('Final Dataset'[Engagement Rate (%)])))</a:t>
            </a:r>
          </a:p>
          <a:p>
            <a:r>
              <a:rPr lang="en-IN" dirty="0"/>
              <a:t>VAR _top = TOPN(1, _t, [@</a:t>
            </a:r>
            <a:r>
              <a:rPr lang="en-IN" dirty="0" err="1"/>
              <a:t>AvgER</a:t>
            </a:r>
            <a:r>
              <a:rPr lang="en-IN" dirty="0"/>
              <a:t>], DESC)</a:t>
            </a:r>
          </a:p>
          <a:p>
            <a:r>
              <a:rPr lang="en-IN" dirty="0"/>
              <a:t>RETURN CONCATENATEX(_top, 'Final Dataset'[Post Time], ", ")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3053032" y="2001008"/>
            <a:ext cx="2789150" cy="3323987"/>
          </a:xfrm>
        </p:spPr>
        <p:txBody>
          <a:bodyPr/>
          <a:lstStyle/>
          <a:p>
            <a:r>
              <a:rPr lang="en-IN" sz="1600" b="1" dirty="0"/>
              <a:t>Best Day = </a:t>
            </a:r>
          </a:p>
          <a:p>
            <a:r>
              <a:rPr lang="en-IN" sz="1600" dirty="0"/>
              <a:t>VAR _t = ADDCOLUMNS(VALUES('Final Dataset'[Day of Week]), "@</a:t>
            </a:r>
            <a:r>
              <a:rPr lang="en-IN" sz="1600" dirty="0" err="1"/>
              <a:t>AvgER</a:t>
            </a:r>
            <a:r>
              <a:rPr lang="en-IN" sz="1600" dirty="0"/>
              <a:t>", CALCULATE(AVERAGE('Final Dataset'[Engagement Rate (%)])))</a:t>
            </a:r>
          </a:p>
          <a:p>
            <a:r>
              <a:rPr lang="en-IN" sz="1600" dirty="0"/>
              <a:t>VAR _top = TOPN(1, _t, [@</a:t>
            </a:r>
            <a:r>
              <a:rPr lang="en-IN" sz="1600" dirty="0" err="1"/>
              <a:t>AvgER</a:t>
            </a:r>
            <a:r>
              <a:rPr lang="en-IN" sz="1600" dirty="0"/>
              <a:t>], DESC)</a:t>
            </a:r>
          </a:p>
          <a:p>
            <a:r>
              <a:rPr lang="en-IN" sz="1600" dirty="0"/>
              <a:t>RETURN CONCATENATEX(_top, 'Final Dataset'[Day of Week], ", ")</a:t>
            </a:r>
          </a:p>
          <a:p>
            <a:endParaRPr lang="en-IN" sz="1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>
          <a:xfrm>
            <a:off x="9383153" y="1859419"/>
            <a:ext cx="2608550" cy="4047095"/>
          </a:xfrm>
        </p:spPr>
        <p:txBody>
          <a:bodyPr/>
          <a:lstStyle/>
          <a:p>
            <a:r>
              <a:rPr lang="en-IN" sz="1500" b="1" dirty="0"/>
              <a:t>Best Performing Month </a:t>
            </a:r>
            <a:r>
              <a:rPr lang="en-IN" sz="1500" b="1" dirty="0" smtClean="0"/>
              <a:t>=</a:t>
            </a:r>
          </a:p>
          <a:p>
            <a:r>
              <a:rPr lang="en-IN" sz="1500" dirty="0" smtClean="0"/>
              <a:t> </a:t>
            </a:r>
            <a:r>
              <a:rPr lang="en-IN" sz="1500" dirty="0"/>
              <a:t>VAR _t </a:t>
            </a:r>
            <a:r>
              <a:rPr lang="en-IN" sz="1500" dirty="0" smtClean="0"/>
              <a:t>=ADDCOLUMNS</a:t>
            </a:r>
            <a:r>
              <a:rPr lang="en-IN" sz="1500" dirty="0"/>
              <a:t>(</a:t>
            </a:r>
          </a:p>
          <a:p>
            <a:r>
              <a:rPr lang="en-IN" sz="1500" dirty="0"/>
              <a:t>        VALUES('Final Dataset'[Post Month Name</a:t>
            </a:r>
            <a:r>
              <a:rPr lang="en-IN" sz="1500" dirty="0" smtClean="0"/>
              <a:t>]),"@</a:t>
            </a:r>
            <a:r>
              <a:rPr lang="en-IN" sz="1500" dirty="0"/>
              <a:t>Engagement", CALCULATE(SUM('Final Dataset'[Total Engagement]))</a:t>
            </a:r>
          </a:p>
          <a:p>
            <a:r>
              <a:rPr lang="en-IN" sz="1500" dirty="0"/>
              <a:t>    )</a:t>
            </a:r>
          </a:p>
          <a:p>
            <a:r>
              <a:rPr lang="en-IN" sz="1500" dirty="0"/>
              <a:t>VAR _top = TOPN(1, _t, [@Engagement], DESC)</a:t>
            </a:r>
          </a:p>
          <a:p>
            <a:r>
              <a:rPr lang="en-IN" sz="1500" dirty="0"/>
              <a:t>RETURN</a:t>
            </a:r>
          </a:p>
          <a:p>
            <a:r>
              <a:rPr lang="en-IN" sz="1500" dirty="0"/>
              <a:t>    CONCATENATEX(_top, 'Final Dataset'[Post Month Name], ", 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530" y="1859419"/>
            <a:ext cx="237790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B</a:t>
            </a:r>
            <a:r>
              <a:rPr lang="en-IN" sz="1600" b="1" dirty="0" smtClean="0">
                <a:solidFill>
                  <a:schemeClr val="bg1"/>
                </a:solidFill>
              </a:rPr>
              <a:t>est performing year </a:t>
            </a:r>
            <a:r>
              <a:rPr lang="en-IN" sz="1600" dirty="0" smtClean="0">
                <a:solidFill>
                  <a:schemeClr val="bg1"/>
                </a:solidFill>
              </a:rPr>
              <a:t>= </a:t>
            </a:r>
            <a:r>
              <a:rPr lang="en-IN" sz="1600" dirty="0" err="1" smtClean="0">
                <a:solidFill>
                  <a:schemeClr val="bg1"/>
                </a:solidFill>
              </a:rPr>
              <a:t>var</a:t>
            </a:r>
            <a:r>
              <a:rPr lang="en-IN" sz="1600" dirty="0" smtClean="0">
                <a:solidFill>
                  <a:schemeClr val="bg1"/>
                </a:solidFill>
              </a:rPr>
              <a:t> _t =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    </a:t>
            </a:r>
            <a:r>
              <a:rPr lang="en-IN" sz="1600" dirty="0" err="1" smtClean="0">
                <a:solidFill>
                  <a:schemeClr val="bg1"/>
                </a:solidFill>
              </a:rPr>
              <a:t>addcolumns</a:t>
            </a:r>
            <a:r>
              <a:rPr lang="en-IN" sz="1600" dirty="0" smtClean="0">
                <a:solidFill>
                  <a:schemeClr val="bg1"/>
                </a:solidFill>
              </a:rPr>
              <a:t>(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        values('final dataset'[post year]),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        "@engagement", calculate(sum('final dataset'[total engagement]))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    )</a:t>
            </a:r>
          </a:p>
          <a:p>
            <a:r>
              <a:rPr lang="en-IN" sz="1600" dirty="0" err="1" smtClean="0">
                <a:solidFill>
                  <a:schemeClr val="bg1"/>
                </a:solidFill>
              </a:rPr>
              <a:t>var</a:t>
            </a:r>
            <a:r>
              <a:rPr lang="en-IN" sz="1600" dirty="0" smtClean="0">
                <a:solidFill>
                  <a:schemeClr val="bg1"/>
                </a:solidFill>
              </a:rPr>
              <a:t> _top = </a:t>
            </a:r>
            <a:r>
              <a:rPr lang="en-IN" sz="1600" dirty="0" err="1" smtClean="0">
                <a:solidFill>
                  <a:schemeClr val="bg1"/>
                </a:solidFill>
              </a:rPr>
              <a:t>topn</a:t>
            </a:r>
            <a:r>
              <a:rPr lang="en-IN" sz="1600" dirty="0" smtClean="0">
                <a:solidFill>
                  <a:schemeClr val="bg1"/>
                </a:solidFill>
              </a:rPr>
              <a:t>(1, _t, [@engagement], </a:t>
            </a:r>
            <a:r>
              <a:rPr lang="en-IN" sz="1600" dirty="0" err="1" smtClean="0">
                <a:solidFill>
                  <a:schemeClr val="bg1"/>
                </a:solidFill>
              </a:rPr>
              <a:t>desc</a:t>
            </a:r>
            <a:r>
              <a:rPr lang="en-IN" sz="1600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return</a:t>
            </a:r>
          </a:p>
          <a:p>
            <a:r>
              <a:rPr lang="en-IN" sz="1600" dirty="0" smtClean="0">
                <a:solidFill>
                  <a:schemeClr val="bg1"/>
                </a:solidFill>
              </a:rPr>
              <a:t>    </a:t>
            </a:r>
            <a:r>
              <a:rPr lang="en-IN" sz="1600" dirty="0" err="1" smtClean="0">
                <a:solidFill>
                  <a:schemeClr val="bg1"/>
                </a:solidFill>
              </a:rPr>
              <a:t>concatenatex</a:t>
            </a:r>
            <a:r>
              <a:rPr lang="en-IN" sz="1600" dirty="0" smtClean="0">
                <a:solidFill>
                  <a:schemeClr val="bg1"/>
                </a:solidFill>
              </a:rPr>
              <a:t>(_top, 'final dataset'[post year], ", ")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1300" y="1752813"/>
            <a:ext cx="2495006" cy="41385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100354" y="1752813"/>
            <a:ext cx="2906254" cy="41385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2994478" y="1717830"/>
            <a:ext cx="2847704" cy="41735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9163593" y="1717831"/>
            <a:ext cx="2828110" cy="41735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2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437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Tahoma</vt:lpstr>
      <vt:lpstr>Trade Gothic LT Pro</vt:lpstr>
      <vt:lpstr>Trebuchet MS</vt:lpstr>
      <vt:lpstr>Wingdings</vt:lpstr>
      <vt:lpstr>Office Theme</vt:lpstr>
      <vt:lpstr>SOCIAL MEDIA ENGAGEMENT ANALYSIS 2024-2025</vt:lpstr>
      <vt:lpstr>Page 1 — Overview </vt:lpstr>
      <vt:lpstr>Page 2 — Content &amp; Platform Performance</vt:lpstr>
      <vt:lpstr>Page 3 — Timing &amp; Geography</vt:lpstr>
      <vt:lpstr>Page 4 — Audience Demographics</vt:lpstr>
      <vt:lpstr>MEASURES USED FOR KPI</vt:lpstr>
      <vt:lpstr>TIMING &amp; GEOGRAPHY KPIS MEASURE’s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2026-10-05T01:13:41Z</dcterms:created>
  <dcterms:modified xsi:type="dcterms:W3CDTF">2026-10-05T02:03:09Z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